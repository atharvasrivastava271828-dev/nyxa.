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yinya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6750" y="731520"/>
            <a:ext cx="1097280" cy="10972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920240"/>
            <a:ext cx="103628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400" b="1">
                <a:solidFill>
                  <a:srgbClr val="FFFFFF"/>
                </a:solidFill>
                <a:latin typeface="Inter"/>
              </a:defRPr>
            </a:pPr>
            <a:r>
              <a:t>Nyxa.</a:t>
            </a:r>
          </a:p>
        </p:txBody>
      </p:sp>
      <p:sp>
        <p:nvSpPr>
          <p:cNvPr id="4" name="Oval 3"/>
          <p:cNvSpPr/>
          <p:nvPr/>
        </p:nvSpPr>
        <p:spPr>
          <a:xfrm>
            <a:off x="3657600" y="3291840"/>
            <a:ext cx="4876495" cy="0"/>
          </a:xfrm>
          <a:prstGeom prst="ellipse">
            <a:avLst/>
          </a:prstGeom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Inter"/>
              </a:defRPr>
            </a:pPr>
            <a:r>
              <a:t>THE SHORTCUT PARTY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4B4B4"/>
                </a:solidFill>
                <a:latin typeface="Inter"/>
              </a:defRPr>
            </a:pPr>
            <a:r>
              <a:t>The Autonomous Exchange Layer for AI &amp; Micro-Utilities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Inter"/>
              </a:defRPr>
            </a:pPr>
            <a:r>
              <a:t>FOR THE LIGHT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6928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6464"/>
                </a:solidFill>
                <a:latin typeface="Inter"/>
              </a:defRPr>
            </a:pPr>
            <a:r>
              <a:t>Engineering &amp; Cryptography Core</a:t>
            </a:r>
          </a:p>
        </p:txBody>
      </p:sp>
    </p:spTree>
  </p:cSld>
  <p:clrMapOvr>
    <a:masterClrMapping/>
  </p:clrMapOvr>
  <p:transition speed="slow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05840"/>
            <a:ext cx="1036289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Inter"/>
              </a:defRPr>
            </a:pPr>
            <a:r>
              <a:t>People do not want to buy tools.</a:t>
            </a:r>
          </a:p>
          <a:p>
            <a:pPr algn="ctr">
              <a:defRPr sz="3800" b="1">
                <a:solidFill>
                  <a:srgbClr val="FFFFFF"/>
                </a:solidFill>
                <a:latin typeface="Inter"/>
              </a:defRPr>
            </a:pPr>
            <a:r>
              <a:t>They just want the job done.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4B4B4"/>
                </a:solidFill>
                <a:latin typeface="Inter"/>
              </a:defRPr>
            </a:pPr>
            <a:r>
              <a:t>The Psychological Reality of Frictionless Fulfillment</a:t>
            </a:r>
          </a:p>
        </p:txBody>
      </p:sp>
      <p:sp>
        <p:nvSpPr>
          <p:cNvPr id="4" name="Oval 3"/>
          <p:cNvSpPr/>
          <p:nvPr/>
        </p:nvSpPr>
        <p:spPr>
          <a:xfrm>
            <a:off x="3657600" y="2743200"/>
            <a:ext cx="4876495" cy="0"/>
          </a:xfrm>
          <a:prstGeom prst="ellipse">
            <a:avLst/>
          </a:prstGeom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Inter"/>
              </a:defRPr>
            </a:pPr>
            <a:r>
              <a:t>The Mental Load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4B4B4"/>
                </a:solidFill>
                <a:latin typeface="Inter"/>
              </a:defRPr>
            </a:pPr>
            <a:r>
              <a:t>Buying software forces users and AI agents to master complex interfaces, manage credentials, and handle operational failures, creating heavy cognitive stress.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95190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Inter"/>
              </a:defRPr>
            </a:pPr>
            <a:r>
              <a:t>The Shift to Outcomes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95190" y="36576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4B4B4"/>
                </a:solidFill>
                <a:latin typeface="Inter"/>
              </a:defRPr>
            </a:pPr>
            <a:r>
              <a:t>Users and autonomous agents seek guaranteed end results—verified computations, executed tasks, and rendered data—not the underlying tools required to build them.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6895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Inter"/>
              </a:defRPr>
            </a:pPr>
            <a:r>
              <a:t>Frictionless Fulfillment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76895" y="36576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4B4B4"/>
                </a:solidFill>
                <a:latin typeface="Inter"/>
              </a:defRPr>
            </a:pPr>
            <a:r>
              <a:t>The future belongs to zero-friction marketplaces where intent translates directly into verified execution without manual labor, SaaS overhead, or setup drag.</a:t>
            </a:r>
          </a:p>
        </p:txBody>
      </p:sp>
    </p:spTree>
  </p:cSld>
  <p:clrMapOvr>
    <a:masterClrMapping/>
  </p:clrMapOvr>
  <p:transition speed="slow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0584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Inter"/>
              </a:defRPr>
            </a:pPr>
            <a:r>
              <a:t>From Selling Software to Selling Verified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4B4B4"/>
                </a:solidFill>
                <a:latin typeface="Inter"/>
              </a:defRPr>
            </a:pPr>
            <a:r>
              <a:t>The Paradigm Shift in Machine-to-Machine Commerce</a:t>
            </a:r>
          </a:p>
        </p:txBody>
      </p:sp>
      <p:sp>
        <p:nvSpPr>
          <p:cNvPr id="4" name="Oval 3"/>
          <p:cNvSpPr/>
          <p:nvPr/>
        </p:nvSpPr>
        <p:spPr>
          <a:xfrm>
            <a:off x="3657600" y="2651760"/>
            <a:ext cx="4876495" cy="0"/>
          </a:xfrm>
          <a:prstGeom prst="ellipse">
            <a:avLst/>
          </a:prstGeom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Inter"/>
              </a:defRPr>
            </a:pPr>
            <a:r>
              <a:t>SaaS Model Fatigue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4B4B4"/>
                </a:solidFill>
                <a:latin typeface="Inter"/>
              </a:defRPr>
            </a:pPr>
            <a:r>
              <a:t>Traditional SaaS charges recurring subscriptions for potential access. Nyxa charges micro-fees only upon successful delivery of verified, completed 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95190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Inter"/>
              </a:defRPr>
            </a:pPr>
            <a:r>
              <a:t>Machine-Native Commerce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95190" y="36576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4B4B4"/>
                </a:solidFill>
                <a:latin typeface="Inter"/>
              </a:defRPr>
            </a:pPr>
            <a:r>
              <a:t>Autonomous AI agents cannot fill out credit card forms or manage SaaS plans; they require zero-friction, programmatic outcome procurement.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6895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Inter"/>
              </a:defRPr>
            </a:pPr>
            <a:r>
              <a:t>The Result Marketplace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76895" y="36576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4B4B4"/>
                </a:solidFill>
                <a:latin typeface="Inter"/>
              </a:defRPr>
            </a:pPr>
            <a:r>
              <a:t>A global liquid exchange where developers deploy WASM micro-utilities and autonomous agents trade results in sub-second execution windows.</a:t>
            </a:r>
          </a:p>
        </p:txBody>
      </p:sp>
    </p:spTree>
  </p:cSld>
  <p:clrMapOvr>
    <a:masterClrMapping/>
  </p:clrMapOvr>
  <p:transition speed="slow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0584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Inter"/>
              </a:defRPr>
            </a:pPr>
            <a:r>
              <a:t>The Exchange for Autonomous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4B4B4"/>
                </a:solidFill>
                <a:latin typeface="Inter"/>
              </a:defRPr>
            </a:pPr>
            <a:r>
              <a:t>Unified Compute &amp; Escrow Settlement for Autonomous AI Agents</a:t>
            </a:r>
          </a:p>
        </p:txBody>
      </p:sp>
      <p:sp>
        <p:nvSpPr>
          <p:cNvPr id="4" name="Oval 3"/>
          <p:cNvSpPr/>
          <p:nvPr/>
        </p:nvSpPr>
        <p:spPr>
          <a:xfrm>
            <a:off x="3657600" y="2651760"/>
            <a:ext cx="4876495" cy="0"/>
          </a:xfrm>
          <a:prstGeom prst="ellipse">
            <a:avLst/>
          </a:prstGeom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Inter"/>
              </a:defRPr>
            </a:pPr>
            <a:r>
              <a:t>Instant Execution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4B4B4"/>
                </a:solidFill>
                <a:latin typeface="Inter"/>
              </a:defRPr>
            </a:pPr>
            <a:r>
              <a:t>AI agents request complex data transformations, code executions, or cryptographic verifications with zero environment setup or key management.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95190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Inter"/>
              </a:defRPr>
            </a:pPr>
            <a:r>
              <a:t>Escrow 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95190" y="36576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4B4B4"/>
                </a:solidFill>
                <a:latin typeface="Inter"/>
              </a:defRPr>
            </a:pPr>
            <a:r>
              <a:t>Funds are locked safely in escrow ledgers before execution begins, guaranteeing buyer protection and payment seller assurance.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6895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Inter"/>
              </a:defRPr>
            </a:pPr>
            <a:r>
              <a:t>Pay-Per-Outcome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76895" y="36576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4B4B4"/>
                </a:solidFill>
                <a:latin typeface="Inter"/>
              </a:defRPr>
            </a:pPr>
            <a:r>
              <a:t>Pure result-based billing. No recurring subscriptions, zero minimum commitments, and sub-cent precision micro-transaction settlement.</a:t>
            </a:r>
          </a:p>
        </p:txBody>
      </p:sp>
    </p:spTree>
  </p:cSld>
  <p:clrMapOvr>
    <a:masterClrMapping/>
  </p:clrMapOvr>
  <p:transition speed="slow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058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Inter"/>
              </a:defRPr>
            </a:pPr>
            <a:r>
              <a:t>$135 Billion Machine-to-Machine API Economy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4B4B4"/>
                </a:solidFill>
                <a:latin typeface="Inter"/>
              </a:defRPr>
            </a:pPr>
            <a:r>
              <a:t>Capturing the Explosive Growth of Autonomous Agent Commerce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0" b="1">
                <a:solidFill>
                  <a:srgbClr val="FFFFFF"/>
                </a:solidFill>
                <a:latin typeface="Inter"/>
              </a:defRPr>
            </a:pPr>
            <a:r>
              <a:t>$135B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Inter"/>
              </a:defRPr>
            </a:pPr>
            <a:r>
              <a:t>TAM ($135B)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4B4B4"/>
                </a:solidFill>
                <a:latin typeface="Inter"/>
              </a:defRPr>
            </a:pPr>
            <a:r>
              <a:t>Global market size for API infrastructure, developer tools, and cloud micro-service transactions.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95190" y="4297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Inter"/>
              </a:defRPr>
            </a:pPr>
            <a:r>
              <a:t>SAM ($42B)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95190" y="475488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4B4B4"/>
                </a:solidFill>
                <a:latin typeface="Inter"/>
              </a:defRPr>
            </a:pPr>
            <a:r>
              <a:t>Target market for autonomous AI agent compute, edge execution, and programmatic workflow layers expanding at 48% CAGR.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6895" y="4297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Inter"/>
              </a:defRPr>
            </a:pPr>
            <a:r>
              <a:t>SOM ($3.8B)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76895" y="475488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4B4B4"/>
                </a:solidFill>
                <a:latin typeface="Inter"/>
              </a:defRPr>
            </a:pPr>
            <a:r>
              <a:t>Achievable Year 4 market capture in autonomous micro-utility transaction fees and escrow settlements.</a:t>
            </a:r>
          </a:p>
        </p:txBody>
      </p:sp>
    </p:spTree>
  </p:cSld>
  <p:clrMapOvr>
    <a:masterClrMapping/>
  </p:clrMapOvr>
  <p:transition speed="slow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058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Inter"/>
              </a:defRPr>
            </a:pPr>
            <a:r>
              <a:t>Platform Architecture: Edge &amp; Escrow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4B4B4"/>
                </a:solidFill>
                <a:latin typeface="Inter"/>
              </a:defRPr>
            </a:pPr>
            <a:r>
              <a:t>Verifiable Execution Pipeline Designed for Sub-Second Latency</a:t>
            </a:r>
          </a:p>
        </p:txBody>
      </p:sp>
      <p:sp>
        <p:nvSpPr>
          <p:cNvPr id="4" name="Oval 3"/>
          <p:cNvSpPr/>
          <p:nvPr/>
        </p:nvSpPr>
        <p:spPr>
          <a:xfrm>
            <a:off x="3657600" y="2468880"/>
            <a:ext cx="4876495" cy="0"/>
          </a:xfrm>
          <a:prstGeom prst="ellipse">
            <a:avLst/>
          </a:prstGeom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Inter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Inter"/>
              </a:defRPr>
            </a:pPr>
            <a:r>
              <a:t>Edge WASM Sandbox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4B4B4"/>
                </a:solidFill>
                <a:latin typeface="Inter"/>
              </a:defRPr>
            </a:pPr>
            <a:r>
              <a:t>Tasks run at global edge nodes inside secure WebAssembly sandboxes, eliminating cloud overhead and ensuring sub-millisecond start times.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95190" y="28346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Inter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5190" y="3566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Inter"/>
              </a:defRPr>
            </a:pPr>
            <a:r>
              <a:t>Escrow Ledger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5190" y="402336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4B4B4"/>
                </a:solidFill>
                <a:latin typeface="Inter"/>
              </a:defRPr>
            </a:pPr>
            <a:r>
              <a:t>Programmable escrow holds funds securely during execution, preventing counterparty default and ensuring cryptographic verification.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76895" y="28346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Inter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6895" y="3566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Inter"/>
              </a:defRPr>
            </a:pPr>
            <a:r>
              <a:t>Atomic Settlement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76895" y="402336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4B4B4"/>
                </a:solidFill>
                <a:latin typeface="Inter"/>
              </a:defRPr>
            </a:pPr>
            <a:r>
              <a:t>Payment releases instantly upon verified task completion. If output fails validation, funds return to the buyer immediately.</a:t>
            </a:r>
          </a:p>
        </p:txBody>
      </p:sp>
    </p:spTree>
  </p:cSld>
  <p:clrMapOvr>
    <a:masterClrMapping/>
  </p:clrMapOvr>
  <p:transition speed="slow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058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Inter"/>
              </a:defRPr>
            </a:pPr>
            <a:r>
              <a:t>Unit Economics &amp; Protocol Monetization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4B4B4"/>
                </a:solidFill>
                <a:latin typeface="Inter"/>
              </a:defRPr>
            </a:pPr>
            <a:r>
              <a:t>Scalable Take-Rate Infrastructure with Zero Marginal Server Overhead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0" b="1">
                <a:solidFill>
                  <a:srgbClr val="FFFFFF"/>
                </a:solidFill>
                <a:latin typeface="Inter"/>
              </a:defRPr>
            </a:pPr>
            <a:r>
              <a:t>3.5%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Inter"/>
              </a:defRPr>
            </a:pPr>
            <a:r>
              <a:t>Protocol Take-Rate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4B4B4"/>
                </a:solidFill>
                <a:latin typeface="Inter"/>
              </a:defRPr>
            </a:pPr>
            <a:r>
              <a:t>Flat, transparent protocol fee collected automatically on every successful transaction and micro-utility execution.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74320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0" b="1">
                <a:solidFill>
                  <a:srgbClr val="FFFFFF"/>
                </a:solidFill>
                <a:latin typeface="Inter"/>
              </a:defRPr>
            </a:pPr>
            <a: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42976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Inter"/>
              </a:defRPr>
            </a:pPr>
            <a:r>
              <a:t>Marginal Compute Overhead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75488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4B4B4"/>
                </a:solidFill>
                <a:latin typeface="Inter"/>
              </a:defRPr>
            </a:pPr>
            <a:r>
              <a:t>Edge-hosted WASM binaries offload compute costs to distributed nodes, maintaining ultra-high operating efficiency.</a:t>
            </a:r>
          </a:p>
        </p:txBody>
      </p:sp>
    </p:spTree>
  </p:cSld>
  <p:clrMapOvr>
    <a:masterClrMapping/>
  </p:clrMapOvr>
  <p:transition speed="slow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058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Inter"/>
              </a:defRPr>
            </a:pPr>
            <a:r>
              <a:t>Traction Drivers &amp; Financial Efficiency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4B4B4"/>
                </a:solidFill>
                <a:latin typeface="Inter"/>
              </a:defRPr>
            </a:pPr>
            <a:r>
              <a:t>High-Margin Architecture Paired with Viral Developer Acquisition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0" b="1">
                <a:solidFill>
                  <a:srgbClr val="FFFFFF"/>
                </a:solidFill>
                <a:latin typeface="Inter"/>
              </a:defRPr>
            </a:pPr>
            <a:r>
              <a:t>95%+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Inter"/>
              </a:defRPr>
            </a:pPr>
            <a:r>
              <a:t>Gross Profit Margins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4B4B4"/>
                </a:solidFill>
                <a:latin typeface="Inter"/>
              </a:defRPr>
            </a:pPr>
            <a:r>
              <a:t>Software-defined settlement and edge compute deliver industry-leading gross profit margins across all transaction volumes.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74320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0" b="1">
                <a:solidFill>
                  <a:srgbClr val="FFFFFF"/>
                </a:solidFill>
                <a:latin typeface="Inter"/>
              </a:defRPr>
            </a:pPr>
            <a:r>
              <a:t>48:1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42976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Inter"/>
              </a:defRPr>
            </a:pPr>
            <a:r>
              <a:t>LTV / CAC Efficiency Ratio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75488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4B4B4"/>
                </a:solidFill>
                <a:latin typeface="Inter"/>
              </a:defRPr>
            </a:pPr>
            <a:r>
              <a:t>Open-source SDKs and developer utility publishing create self-sustaining organic acquisition flywheels.</a:t>
            </a:r>
          </a:p>
        </p:txBody>
      </p:sp>
    </p:spTree>
  </p:cSld>
  <p:clrMapOvr>
    <a:masterClrMapping/>
  </p:clrMapOvr>
  <p:transition speed="slow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058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Inter"/>
              </a:defRPr>
            </a:pPr>
            <a:r>
              <a:t>We Sell the Destination. Not the Car.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4B4B4"/>
                </a:solidFill>
                <a:latin typeface="Inter"/>
              </a:defRPr>
            </a:pPr>
            <a:r>
              <a:t>Defensive Moat at the Intersection of Compute &amp; Financial Settlement</a:t>
            </a:r>
          </a:p>
        </p:txBody>
      </p:sp>
      <p:sp>
        <p:nvSpPr>
          <p:cNvPr id="4" name="Oval 3"/>
          <p:cNvSpPr/>
          <p:nvPr/>
        </p:nvSpPr>
        <p:spPr>
          <a:xfrm>
            <a:off x="3657600" y="2468880"/>
            <a:ext cx="4876495" cy="0"/>
          </a:xfrm>
          <a:prstGeom prst="ellipse">
            <a:avLst/>
          </a:prstGeom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46464"/>
                </a:solidFill>
                <a:latin typeface="Inter"/>
              </a:defRPr>
            </a:pPr>
            <a:r>
              <a:t>LEGACY APIS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Inter"/>
              </a:defRPr>
            </a:pPr>
            <a:r>
              <a:t>High Friction &amp; Static Fees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4B4B4"/>
                </a:solidFill>
                <a:latin typeface="Inter"/>
              </a:defRPr>
            </a:pPr>
            <a:r>
              <a:t>Requires manual developer key setup, expensive monthly tier commitments, and credit card payments unsuited for AI agents.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95190" y="3017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46464"/>
                </a:solidFill>
                <a:latin typeface="Inter"/>
              </a:defRPr>
            </a:pPr>
            <a:r>
              <a:t>AGENT FRAMEWORKS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5190" y="3474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Inter"/>
              </a:defRPr>
            </a:pPr>
            <a:r>
              <a:t>Reasoning Without Execution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5190" y="39319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4B4B4"/>
                </a:solidFill>
                <a:latin typeface="Inter"/>
              </a:defRPr>
            </a:pPr>
            <a:r>
              <a:t>Excellent at orchestration and LLM prompt chaining, but lack native sandboxed execution and monetary settlement primitives.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76895" y="3017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Inter"/>
              </a:defRPr>
            </a:pPr>
            <a:r>
              <a:t>NYXA 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6895" y="3474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Inter"/>
              </a:defRPr>
            </a:pPr>
            <a:r>
              <a:t>Atomic Compute + Escrow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76895" y="39319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Inter"/>
              </a:defRPr>
            </a:pPr>
            <a:r>
              <a:t>The only exchange linking WASM edge execution with escrow-backed financial settlement in one seamless transaction.</a:t>
            </a:r>
          </a:p>
        </p:txBody>
      </p:sp>
    </p:spTree>
  </p:cSld>
  <p:clrMapOvr>
    <a:masterClrMapping/>
  </p:clrMapOvr>
  <p:transition speed="slow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058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Inter"/>
              </a:defRPr>
            </a:pPr>
            <a:r>
              <a:t>$630 Million Target Annual Recurring Revenue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4B4B4"/>
                </a:solidFill>
                <a:latin typeface="Inter"/>
              </a:defRPr>
            </a:pPr>
            <a:r>
              <a:t>Scaling the Financial Backbone of the Machine Economy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3628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0" b="1">
                <a:solidFill>
                  <a:srgbClr val="FFFFFF"/>
                </a:solidFill>
                <a:latin typeface="Inter"/>
              </a:defRPr>
            </a:pPr>
            <a:r>
              <a:t>$630M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4B4B4"/>
                </a:solidFill>
                <a:latin typeface="Inter"/>
              </a:defRPr>
            </a:pPr>
            <a:r>
              <a:t>Year 5 Target ARR driven by 5,000,000 active autonomous agents processing daily transactions.</a:t>
            </a:r>
          </a:p>
        </p:txBody>
      </p:sp>
      <p:pic>
        <p:nvPicPr>
          <p:cNvPr id="6" name="Picture 5" descr="yinya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6750" y="4846320"/>
            <a:ext cx="822960" cy="822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576072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Inter"/>
              </a:defRPr>
            </a:pPr>
            <a:r>
              <a:t>FOR THE LIGHT</a:t>
            </a:r>
          </a:p>
        </p:txBody>
      </p:sp>
    </p:spTree>
  </p:cSld>
  <p:clrMapOvr>
    <a:masterClrMapping/>
  </p:clrMapOvr>
  <p:transition spee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